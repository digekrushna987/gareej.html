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2" r:id="rId17"/>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9" d="100"/>
          <a:sy n="69" d="100"/>
        </p:scale>
        <p:origin x="-546"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8" name="Title 7"/>
          <p:cNvSpPr>
            <a:spLocks noGrp="1"/>
          </p:cNvSpPr>
          <p:nvPr>
            <p:ph type="ctrTitle"/>
          </p:nvPr>
        </p:nvSpPr>
        <p:spPr>
          <a:xfrm>
            <a:off x="422030" y="1371600"/>
            <a:ext cx="8229600" cy="1828800"/>
          </a:xfrm>
        </p:spPr>
        <p:txBody>
          <a:bodyPr vert="horz" lIns="45720" tIns="0" rIns="45720" bIns="0" anchor="b">
            <a:normAutofit/>
            <a:scene3d>
              <a:camera prst="orthographicFront"/>
              <a:lightRig rig="soft" dir="t">
                <a:rot lat="0" lon="0" rev="17220000"/>
              </a:lightRig>
            </a:scene3d>
            <a:sp3d prstMaterial="softEdge">
              <a:bevelT w="38100" h="38100"/>
            </a:sp3d>
          </a:bodyPr>
          <a:lstStyle>
            <a:lvl1pPr>
              <a:defRPr sz="4800" b="1" cap="all"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27000" dist="200000" dir="2700000" algn="tl" rotWithShape="0">
                    <a:srgbClr val="000000">
                      <a:alpha val="30000"/>
                    </a:srgbClr>
                  </a:outerShdw>
                </a:effectLst>
              </a:defRPr>
            </a:lvl1pPr>
          </a:lstStyle>
          <a:p>
            <a:r>
              <a:rPr kumimoji="0" lang="en-US" smtClean="0"/>
              <a:t>Click to edit Master title style</a:t>
            </a:r>
            <a:endParaRPr kumimoji="0" lang="en-US"/>
          </a:p>
        </p:txBody>
      </p:sp>
      <p:sp>
        <p:nvSpPr>
          <p:cNvPr id="28" name="Date Placeholder 27"/>
          <p:cNvSpPr>
            <a:spLocks noGrp="1"/>
          </p:cNvSpPr>
          <p:nvPr>
            <p:ph type="dt" sz="half" idx="10"/>
          </p:nvPr>
        </p:nvSpPr>
        <p:spPr/>
        <p:txBody>
          <a:bodyPr/>
          <a:lstStyle/>
          <a:p>
            <a:fld id="{5477EC32-B596-436C-8ED5-59B6F1B2DE2C}" type="datetimeFigureOut">
              <a:rPr lang="en-US" smtClean="0"/>
              <a:t>4/29/2025</a:t>
            </a:fld>
            <a:endParaRPr lang="en-US"/>
          </a:p>
        </p:txBody>
      </p:sp>
      <p:sp>
        <p:nvSpPr>
          <p:cNvPr id="17" name="Footer Placeholder 16"/>
          <p:cNvSpPr>
            <a:spLocks noGrp="1"/>
          </p:cNvSpPr>
          <p:nvPr>
            <p:ph type="ftr" sz="quarter" idx="11"/>
          </p:nvPr>
        </p:nvSpPr>
        <p:spPr/>
        <p:txBody>
          <a:bodyPr/>
          <a:lstStyle/>
          <a:p>
            <a:endParaRPr lang="en-US"/>
          </a:p>
        </p:txBody>
      </p:sp>
      <p:sp>
        <p:nvSpPr>
          <p:cNvPr id="29" name="Slide Number Placeholder 28"/>
          <p:cNvSpPr>
            <a:spLocks noGrp="1"/>
          </p:cNvSpPr>
          <p:nvPr>
            <p:ph type="sldNum" sz="quarter" idx="12"/>
          </p:nvPr>
        </p:nvSpPr>
        <p:spPr/>
        <p:txBody>
          <a:bodyPr/>
          <a:lstStyle/>
          <a:p>
            <a:fld id="{61EE08D5-440D-456F-9B07-69D9B87039EB}" type="slidenum">
              <a:rPr lang="en-US" smtClean="0"/>
              <a:t>‹#›</a:t>
            </a:fld>
            <a:endParaRPr lang="en-US"/>
          </a:p>
        </p:txBody>
      </p:sp>
      <p:sp>
        <p:nvSpPr>
          <p:cNvPr id="9" name="Subtitle 8"/>
          <p:cNvSpPr>
            <a:spLocks noGrp="1"/>
          </p:cNvSpPr>
          <p:nvPr>
            <p:ph type="subTitle" idx="1"/>
          </p:nvPr>
        </p:nvSpPr>
        <p:spPr>
          <a:xfrm>
            <a:off x="1371600" y="3331698"/>
            <a:ext cx="6400800" cy="1752600"/>
          </a:xfrm>
        </p:spPr>
        <p:txBody>
          <a:bodyPr/>
          <a:lstStyle>
            <a:lvl1pPr marL="0" indent="0" algn="ct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77EC32-B596-436C-8ED5-59B6F1B2DE2C}"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bg>
      <p:bgRef idx="1003">
        <a:schemeClr val="bg2"/>
      </p:bgRef>
    </p:bg>
    <p:spTree>
      <p:nvGrpSpPr>
        <p:cNvPr id="1" name=""/>
        <p:cNvGrpSpPr/>
        <p:nvPr/>
      </p:nvGrpSpPr>
      <p:grpSpPr>
        <a:xfrm>
          <a:off x="0" y="0"/>
          <a:ext cx="0" cy="0"/>
          <a:chOff x="0" y="0"/>
          <a:chExt cx="0" cy="0"/>
        </a:xfrm>
      </p:grpSpPr>
      <p:sp>
        <p:nvSpPr>
          <p:cNvPr id="2" name="Title 1"/>
          <p:cNvSpPr>
            <a:spLocks noGrp="1"/>
          </p:cNvSpPr>
          <p:nvPr>
            <p:ph type="title"/>
          </p:nvPr>
        </p:nvSpPr>
        <p:spPr>
          <a:xfrm>
            <a:off x="1600200" y="609600"/>
            <a:ext cx="7086600" cy="1828800"/>
          </a:xfrm>
        </p:spPr>
        <p:txBody>
          <a:bodyPr vert="horz" bIns="0" anchor="b">
            <a:noAutofit/>
            <a:scene3d>
              <a:camera prst="orthographicFront"/>
              <a:lightRig rig="soft" dir="t">
                <a:rot lat="0" lon="0" rev="17220000"/>
              </a:lightRig>
            </a:scene3d>
            <a:sp3d prstMaterial="softEdge">
              <a:bevelT w="38100" h="38100"/>
              <a:contourClr>
                <a:schemeClr val="tx2">
                  <a:shade val="50000"/>
                </a:schemeClr>
              </a:contourClr>
            </a:sp3d>
          </a:bodyPr>
          <a:lstStyle>
            <a:lvl1pPr algn="l" rtl="0">
              <a:spcBef>
                <a:spcPct val="0"/>
              </a:spcBef>
              <a:buNone/>
              <a:defRPr sz="4800" b="1" cap="none" baseline="0">
                <a:ln w="6350">
                  <a:noFill/>
                </a:ln>
                <a:solidFill>
                  <a:schemeClr val="accent1">
                    <a:tint val="90000"/>
                    <a:satMod val="120000"/>
                  </a:schemeClr>
                </a:solidFill>
                <a:effectLst>
                  <a:outerShdw blurRad="114300" dist="101600" dir="2700000" algn="tl" rotWithShape="0">
                    <a:srgbClr val="000000">
                      <a:alpha val="40000"/>
                    </a:srgbClr>
                  </a:outerShdw>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1600200" y="2507786"/>
            <a:ext cx="7086600" cy="1509712"/>
          </a:xfrm>
        </p:spPr>
        <p:txBody>
          <a:bodyPr anchor="t"/>
          <a:lstStyle>
            <a:lvl1pPr marL="73152" indent="0" algn="l">
              <a:buNone/>
              <a:defRPr sz="20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5477EC32-B596-436C-8ED5-59B6F1B2DE2C}"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a:xfrm>
            <a:off x="7924800" y="6416675"/>
            <a:ext cx="762000" cy="365125"/>
          </a:xfrm>
        </p:spPr>
        <p:txBody>
          <a:bodyPr/>
          <a:lstStyle/>
          <a:p>
            <a:fld id="{61EE08D5-440D-456F-9B07-69D9B87039EB}" type="slidenum">
              <a:rPr lang="en-US" smtClean="0"/>
              <a:t>‹#›</a:t>
            </a:fld>
            <a:endParaRPr lang="en-US"/>
          </a:p>
        </p:txBody>
      </p:sp>
    </p:spTree>
  </p:cSld>
  <p:clrMapOvr>
    <a:overrideClrMapping bg1="dk1" tx1="lt1" bg2="dk2" tx2="lt2" accent1="accent1" accent2="accent2" accent3="accent3" accent4="accent4" accent5="accent5" accent6="accent6" hlink="hlink" folHlink="folHlink"/>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600200"/>
            <a:ext cx="4038600" cy="4525963"/>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477EC32-B596-436C-8ED5-59B6F1B2DE2C}"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8229600" cy="1143000"/>
          </a:xfrm>
        </p:spPr>
        <p:txBody>
          <a:bodyPr anchor="ctr"/>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535112"/>
            <a:ext cx="4040188"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535112"/>
            <a:ext cx="4041775" cy="750887"/>
          </a:xfrm>
        </p:spPr>
        <p:txBody>
          <a:bodyPr anchor="ctr"/>
          <a:lstStyle>
            <a:lvl1pPr marL="0" indent="0">
              <a:buNone/>
              <a:defRPr sz="2400" b="0" cap="all" baseline="0">
                <a:solidFill>
                  <a:schemeClr val="tx1"/>
                </a:solidFill>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362200"/>
            <a:ext cx="4040188"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362200"/>
            <a:ext cx="4041775" cy="3763963"/>
          </a:xfrm>
        </p:spPr>
        <p:txBody>
          <a:bodyPr/>
          <a:lstStyle>
            <a:lvl1pPr>
              <a:defRPr sz="24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5477EC32-B596-436C-8ED5-59B6F1B2DE2C}" type="datetimeFigureOut">
              <a:rPr lang="en-US" smtClean="0"/>
              <a:t>4/29/2025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5477EC32-B596-436C-8ED5-59B6F1B2DE2C}" type="datetimeFigureOut">
              <a:rPr lang="en-US" smtClean="0"/>
              <a:t>4/29/2025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477EC32-B596-436C-8ED5-59B6F1B2DE2C}" type="datetimeFigureOut">
              <a:rPr lang="en-US" smtClean="0"/>
              <a:t>4/29/2025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vert="horz" anchor="b">
            <a:normAutofit/>
            <a:sp3d prstMaterial="softEdge"/>
          </a:bodyPr>
          <a:lstStyle>
            <a:lvl1pPr algn="l">
              <a:buNone/>
              <a:defRPr sz="2200" b="0">
                <a:ln w="6350">
                  <a:noFill/>
                </a:ln>
                <a:solidFill>
                  <a:schemeClr val="accent1">
                    <a:tint val="73000"/>
                    <a:satMod val="180000"/>
                  </a:schemeClr>
                </a:solidFill>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457200" y="1524000"/>
            <a:ext cx="3008313" cy="4602163"/>
          </a:xfrm>
        </p:spPr>
        <p:txBody>
          <a:bodyPr/>
          <a:lstStyle>
            <a:lvl1pPr marL="0" indent="0">
              <a:buNone/>
              <a:defRPr sz="1400"/>
            </a:lvl1pPr>
            <a:lvl2pPr>
              <a:buNone/>
              <a:defRPr sz="1200"/>
            </a:lvl2pPr>
            <a:lvl3pPr>
              <a:buNone/>
              <a:defRPr sz="1000"/>
            </a:lvl3pPr>
            <a:lvl4pPr>
              <a:buNone/>
              <a:defRPr sz="900"/>
            </a:lvl4pPr>
            <a:lvl5pPr>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273050"/>
            <a:ext cx="5111750" cy="5853113"/>
          </a:xfrm>
        </p:spPr>
        <p:txBody>
          <a:bodyPr/>
          <a:lstStyle>
            <a:lvl1pPr>
              <a:defRPr sz="2600"/>
            </a:lvl1pPr>
            <a:lvl2pPr>
              <a:defRPr sz="2400"/>
            </a:lvl2pPr>
            <a:lvl3pPr>
              <a:defRPr sz="22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5477EC32-B596-436C-8ED5-59B6F1B2DE2C}"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828800" y="609600"/>
            <a:ext cx="5486400" cy="522288"/>
          </a:xfrm>
        </p:spPr>
        <p:txBody>
          <a:bodyPr lIns="45720" rIns="45720" bIns="0" anchor="b">
            <a:sp3d prstMaterial="softEdge"/>
          </a:bodyPr>
          <a:lstStyle>
            <a:lvl1pPr algn="ctr">
              <a:buNone/>
              <a:defRPr sz="2000" b="1"/>
            </a:lvl1pPr>
          </a:lstStyle>
          <a:p>
            <a:r>
              <a:rPr kumimoji="0" lang="en-US" smtClean="0"/>
              <a:t>Click to edit Master title style</a:t>
            </a:r>
            <a:endParaRPr kumimoji="0" lang="en-US"/>
          </a:p>
        </p:txBody>
      </p:sp>
      <p:sp>
        <p:nvSpPr>
          <p:cNvPr id="3" name="Picture Placeholder 2"/>
          <p:cNvSpPr>
            <a:spLocks noGrp="1"/>
          </p:cNvSpPr>
          <p:nvPr>
            <p:ph type="pic" idx="1"/>
          </p:nvPr>
        </p:nvSpPr>
        <p:spPr>
          <a:xfrm>
            <a:off x="1828800" y="1831975"/>
            <a:ext cx="5486400" cy="3962400"/>
          </a:xfrm>
          <a:solidFill>
            <a:schemeClr val="bg2"/>
          </a:solidFill>
          <a:ln w="44450" cap="sq" cmpd="sng" algn="ctr">
            <a:solidFill>
              <a:srgbClr val="FFFFFF"/>
            </a:solidFill>
            <a:prstDash val="solid"/>
            <a:miter lim="800000"/>
          </a:ln>
          <a:effectLst>
            <a:outerShdw blurRad="190500" dist="228600" dir="2700000" sy="90000">
              <a:srgbClr val="000000">
                <a:alpha val="25000"/>
              </a:srgbClr>
            </a:outerShdw>
          </a:effectLst>
          <a:scene3d>
            <a:camera prst="orthographicFront">
              <a:rot lat="0" lon="0" rev="0"/>
            </a:camera>
            <a:lightRig rig="balanced" dir="tr">
              <a:rot lat="0" lon="0" rev="2700000"/>
            </a:lightRig>
          </a:scene3d>
          <a:sp3d prstMaterial="matte">
            <a:contourClr>
              <a:schemeClr val="tx2">
                <a:shade val="50000"/>
              </a:schemeClr>
            </a:contourClr>
          </a:sp3d>
        </p:spPr>
        <p:style>
          <a:lnRef idx="3">
            <a:schemeClr val="lt1"/>
          </a:lnRef>
          <a:fillRef idx="1">
            <a:schemeClr val="accent1"/>
          </a:fillRef>
          <a:effectRef idx="1">
            <a:schemeClr val="accent1"/>
          </a:effectRef>
          <a:fontRef idx="minor">
            <a:schemeClr val="lt1"/>
          </a:fontRef>
        </p:style>
        <p:txBody>
          <a:bodyPr anchor="t"/>
          <a:lstStyle>
            <a:lvl1pPr indent="0">
              <a:buNone/>
              <a:defRPr sz="3200"/>
            </a:lvl1pPr>
          </a:lstStyle>
          <a:p>
            <a:pPr marL="0" algn="l" rtl="0" eaLnBrk="1" latinLnBrk="0" hangingPunct="1"/>
            <a:r>
              <a:rPr kumimoji="0" lang="en-US" smtClean="0">
                <a:solidFill>
                  <a:schemeClr val="lt1"/>
                </a:solidFill>
                <a:latin typeface="+mn-lt"/>
                <a:ea typeface="+mn-ea"/>
                <a:cs typeface="+mn-cs"/>
              </a:rPr>
              <a:t>Click icon to add picture</a:t>
            </a:r>
            <a:endParaRPr kumimoji="0" lang="en-US" dirty="0">
              <a:solidFill>
                <a:schemeClr val="lt1"/>
              </a:solidFill>
              <a:latin typeface="+mn-lt"/>
              <a:ea typeface="+mn-ea"/>
              <a:cs typeface="+mn-cs"/>
            </a:endParaRPr>
          </a:p>
        </p:txBody>
      </p:sp>
      <p:sp>
        <p:nvSpPr>
          <p:cNvPr id="4" name="Text Placeholder 3"/>
          <p:cNvSpPr>
            <a:spLocks noGrp="1"/>
          </p:cNvSpPr>
          <p:nvPr>
            <p:ph type="body" sz="half" idx="2"/>
          </p:nvPr>
        </p:nvSpPr>
        <p:spPr>
          <a:xfrm>
            <a:off x="1828800" y="1166787"/>
            <a:ext cx="5486400" cy="530352"/>
          </a:xfrm>
        </p:spPr>
        <p:txBody>
          <a:bodyPr lIns="45720" tIns="45720" rIns="45720" anchor="t"/>
          <a:lstStyle>
            <a:lvl1pPr marL="0" indent="0" algn="ctr">
              <a:buNone/>
              <a:defRPr sz="14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5477EC32-B596-436C-8ED5-59B6F1B2DE2C}" type="datetimeFigureOut">
              <a:rPr lang="en-US" smtClean="0"/>
              <a:t>4/29/2025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77EC32-B596-436C-8ED5-59B6F1B2DE2C}"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5477EC32-B596-436C-8ED5-59B6F1B2DE2C}" type="datetimeFigureOut">
              <a:rPr lang="en-US" smtClean="0"/>
              <a:t>4/29/2025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1EE08D5-440D-456F-9B07-69D9B87039EB}" type="slidenum">
              <a:rPr lang="en-US" smtClean="0"/>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2" name="Title Placeholder 21"/>
          <p:cNvSpPr>
            <a:spLocks noGrp="1"/>
          </p:cNvSpPr>
          <p:nvPr>
            <p:ph type="title"/>
          </p:nvPr>
        </p:nvSpPr>
        <p:spPr>
          <a:xfrm>
            <a:off x="457200" y="274638"/>
            <a:ext cx="8229600" cy="1143000"/>
          </a:xfrm>
          <a:prstGeom prst="rect">
            <a:avLst/>
          </a:prstGeom>
        </p:spPr>
        <p:txBody>
          <a:bodyPr vert="horz" anchor="ctr">
            <a:normAutofit/>
            <a:scene3d>
              <a:camera prst="orthographicFront"/>
              <a:lightRig rig="soft" dir="t">
                <a:rot lat="0" lon="0" rev="16800000"/>
              </a:lightRig>
            </a:scene3d>
            <a:sp3d prstMaterial="softEdge">
              <a:bevelT w="38100" h="38100"/>
            </a:sp3d>
          </a:bodyPr>
          <a:lstStyle/>
          <a:p>
            <a:r>
              <a:rPr kumimoji="0" lang="en-US" smtClean="0"/>
              <a:t>Click to edit Master title style</a:t>
            </a:r>
            <a:endParaRPr kumimoji="0" lang="en-US"/>
          </a:p>
        </p:txBody>
      </p:sp>
      <p:sp>
        <p:nvSpPr>
          <p:cNvPr id="13" name="Text Placeholder 12"/>
          <p:cNvSpPr>
            <a:spLocks noGrp="1"/>
          </p:cNvSpPr>
          <p:nvPr>
            <p:ph type="body" idx="1"/>
          </p:nvPr>
        </p:nvSpPr>
        <p:spPr>
          <a:xfrm>
            <a:off x="457200" y="1600200"/>
            <a:ext cx="8229600" cy="470916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4" name="Date Placeholder 13"/>
          <p:cNvSpPr>
            <a:spLocks noGrp="1"/>
          </p:cNvSpPr>
          <p:nvPr>
            <p:ph type="dt" sz="half" idx="2"/>
          </p:nvPr>
        </p:nvSpPr>
        <p:spPr>
          <a:xfrm>
            <a:off x="457200" y="6416675"/>
            <a:ext cx="2133600" cy="365125"/>
          </a:xfrm>
          <a:prstGeom prst="rect">
            <a:avLst/>
          </a:prstGeom>
        </p:spPr>
        <p:txBody>
          <a:bodyPr vert="horz" anchor="b"/>
          <a:lstStyle>
            <a:lvl1pPr algn="l" eaLnBrk="1" latinLnBrk="0" hangingPunct="1">
              <a:defRPr kumimoji="0" sz="1200">
                <a:solidFill>
                  <a:schemeClr val="tx1">
                    <a:shade val="50000"/>
                  </a:schemeClr>
                </a:solidFill>
              </a:defRPr>
            </a:lvl1pPr>
          </a:lstStyle>
          <a:p>
            <a:fld id="{5477EC32-B596-436C-8ED5-59B6F1B2DE2C}" type="datetimeFigureOut">
              <a:rPr lang="en-US" smtClean="0"/>
              <a:t>4/29/2025</a:t>
            </a:fld>
            <a:endParaRPr lang="en-US"/>
          </a:p>
        </p:txBody>
      </p:sp>
      <p:sp>
        <p:nvSpPr>
          <p:cNvPr id="3" name="Footer Placeholder 2"/>
          <p:cNvSpPr>
            <a:spLocks noGrp="1"/>
          </p:cNvSpPr>
          <p:nvPr>
            <p:ph type="ftr" sz="quarter" idx="3"/>
          </p:nvPr>
        </p:nvSpPr>
        <p:spPr>
          <a:xfrm>
            <a:off x="3124200" y="6416675"/>
            <a:ext cx="2895600" cy="365125"/>
          </a:xfrm>
          <a:prstGeom prst="rect">
            <a:avLst/>
          </a:prstGeom>
        </p:spPr>
        <p:txBody>
          <a:bodyPr vert="horz" anchor="b"/>
          <a:lstStyle>
            <a:lvl1pPr algn="ctr" eaLnBrk="1" latinLnBrk="0" hangingPunct="1">
              <a:defRPr kumimoji="0" sz="1200">
                <a:solidFill>
                  <a:schemeClr val="tx1">
                    <a:shade val="50000"/>
                  </a:schemeClr>
                </a:solidFill>
              </a:defRPr>
            </a:lvl1pPr>
          </a:lstStyle>
          <a:p>
            <a:endParaRPr lang="en-US"/>
          </a:p>
        </p:txBody>
      </p:sp>
      <p:sp>
        <p:nvSpPr>
          <p:cNvPr id="23" name="Slide Number Placeholder 22"/>
          <p:cNvSpPr>
            <a:spLocks noGrp="1"/>
          </p:cNvSpPr>
          <p:nvPr>
            <p:ph type="sldNum" sz="quarter" idx="4"/>
          </p:nvPr>
        </p:nvSpPr>
        <p:spPr>
          <a:xfrm>
            <a:off x="7924800" y="6416675"/>
            <a:ext cx="762000" cy="365125"/>
          </a:xfrm>
          <a:prstGeom prst="rect">
            <a:avLst/>
          </a:prstGeom>
        </p:spPr>
        <p:txBody>
          <a:bodyPr vert="horz" lIns="0" rIns="0" anchor="b"/>
          <a:lstStyle>
            <a:lvl1pPr algn="r" eaLnBrk="1" latinLnBrk="0" hangingPunct="1">
              <a:defRPr kumimoji="0" sz="1200">
                <a:solidFill>
                  <a:schemeClr val="tx1">
                    <a:shade val="50000"/>
                  </a:schemeClr>
                </a:solidFill>
              </a:defRPr>
            </a:lvl1pPr>
          </a:lstStyle>
          <a:p>
            <a:fld id="{61EE08D5-440D-456F-9B07-69D9B87039EB}" type="slidenum">
              <a:rPr lang="en-US" smtClean="0"/>
              <a:t>‹#›</a:t>
            </a:fld>
            <a:endParaRPr 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ctr" rtl="0" eaLnBrk="1" latinLnBrk="0" hangingPunct="1">
        <a:spcBef>
          <a:spcPct val="0"/>
        </a:spcBef>
        <a:buNone/>
        <a:defRPr kumimoji="0" sz="4100" b="1" kern="1200" cap="none" baseline="0">
          <a:ln w="6350">
            <a:noFill/>
          </a:ln>
          <a:gradFill>
            <a:gsLst>
              <a:gs pos="0">
                <a:schemeClr val="accent1">
                  <a:tint val="73000"/>
                  <a:satMod val="145000"/>
                </a:schemeClr>
              </a:gs>
              <a:gs pos="73000">
                <a:schemeClr val="accent1">
                  <a:tint val="73000"/>
                  <a:satMod val="145000"/>
                </a:schemeClr>
              </a:gs>
              <a:gs pos="100000">
                <a:schemeClr val="accent1">
                  <a:tint val="83000"/>
                  <a:satMod val="143000"/>
                </a:schemeClr>
              </a:gs>
            </a:gsLst>
            <a:lin ang="4800000" scaled="1"/>
          </a:gradFill>
          <a:effectLst>
            <a:outerShdw blurRad="114300" dist="101600" dir="2700000" algn="tl" rotWithShape="0">
              <a:srgbClr val="000000">
                <a:alpha val="40000"/>
              </a:srgbClr>
            </a:outerShdw>
          </a:effectLst>
          <a:latin typeface="+mj-lt"/>
          <a:ea typeface="+mj-ea"/>
          <a:cs typeface="+mj-cs"/>
        </a:defRPr>
      </a:lvl1pPr>
    </p:titleStyle>
    <p:bodyStyle>
      <a:lvl1pPr marL="548640" indent="-411480" algn="l" rtl="0" eaLnBrk="1" latinLnBrk="0" hangingPunct="1">
        <a:spcBef>
          <a:spcPct val="20000"/>
        </a:spcBef>
        <a:buClr>
          <a:schemeClr val="tx1">
            <a:shade val="95000"/>
          </a:schemeClr>
        </a:buClr>
        <a:buSzPct val="65000"/>
        <a:buFont typeface="Wingdings 2"/>
        <a:buChar char=""/>
        <a:defRPr kumimoji="0" sz="2800" kern="1200">
          <a:solidFill>
            <a:schemeClr val="tx1"/>
          </a:solidFill>
          <a:latin typeface="+mn-lt"/>
          <a:ea typeface="+mn-ea"/>
          <a:cs typeface="+mn-cs"/>
        </a:defRPr>
      </a:lvl1pPr>
      <a:lvl2pPr marL="868680" indent="-283464" algn="l" rtl="0" eaLnBrk="1" latinLnBrk="0" hangingPunct="1">
        <a:spcBef>
          <a:spcPct val="20000"/>
        </a:spcBef>
        <a:buClr>
          <a:schemeClr val="tx1"/>
        </a:buClr>
        <a:buSzPct val="80000"/>
        <a:buFont typeface="Wingdings 2"/>
        <a:buChar char=""/>
        <a:defRPr kumimoji="0" sz="2400" kern="1200">
          <a:solidFill>
            <a:schemeClr val="tx1"/>
          </a:solidFill>
          <a:latin typeface="+mn-lt"/>
          <a:ea typeface="+mn-ea"/>
          <a:cs typeface="+mn-cs"/>
        </a:defRPr>
      </a:lvl2pPr>
      <a:lvl3pPr marL="1133856" indent="-228600" algn="l" rtl="0" eaLnBrk="1" latinLnBrk="0" hangingPunct="1">
        <a:spcBef>
          <a:spcPct val="20000"/>
        </a:spcBef>
        <a:buClr>
          <a:schemeClr val="tx1"/>
        </a:buClr>
        <a:buSzPct val="95000"/>
        <a:buFont typeface="Wingdings"/>
        <a:buChar char=""/>
        <a:defRPr kumimoji="0" sz="2200" kern="1200">
          <a:solidFill>
            <a:schemeClr val="tx1"/>
          </a:solidFill>
          <a:latin typeface="+mn-lt"/>
          <a:ea typeface="+mn-ea"/>
          <a:cs typeface="+mn-cs"/>
        </a:defRPr>
      </a:lvl3pPr>
      <a:lvl4pPr marL="1353312" indent="-182880" algn="l" rtl="0" eaLnBrk="1" latinLnBrk="0" hangingPunct="1">
        <a:spcBef>
          <a:spcPct val="20000"/>
        </a:spcBef>
        <a:buClr>
          <a:schemeClr val="tx1"/>
        </a:buClr>
        <a:buSzPct val="100000"/>
        <a:buFont typeface="Wingdings 3"/>
        <a:buChar char=""/>
        <a:defRPr kumimoji="0" sz="2000" kern="1200">
          <a:solidFill>
            <a:schemeClr val="tx1"/>
          </a:solidFill>
          <a:latin typeface="+mn-lt"/>
          <a:ea typeface="+mn-ea"/>
          <a:cs typeface="+mn-cs"/>
        </a:defRPr>
      </a:lvl4pPr>
      <a:lvl5pPr marL="1545336" indent="-182880" algn="l" rtl="0" eaLnBrk="1" latinLnBrk="0" hangingPunct="1">
        <a:spcBef>
          <a:spcPct val="20000"/>
        </a:spcBef>
        <a:buClr>
          <a:schemeClr val="tx1"/>
        </a:buClr>
        <a:buFont typeface="Wingdings 2"/>
        <a:buChar char=""/>
        <a:defRPr kumimoji="0" sz="2000" kern="1200">
          <a:solidFill>
            <a:schemeClr val="tx1"/>
          </a:solidFill>
          <a:latin typeface="+mn-lt"/>
          <a:ea typeface="+mn-ea"/>
          <a:cs typeface="+mn-cs"/>
        </a:defRPr>
      </a:lvl5pPr>
      <a:lvl6pPr marL="1764792" indent="-182880" algn="l" rtl="0" eaLnBrk="1" latinLnBrk="0" hangingPunct="1">
        <a:spcBef>
          <a:spcPct val="20000"/>
        </a:spcBef>
        <a:buClr>
          <a:schemeClr val="tx1"/>
        </a:buClr>
        <a:buFont typeface="Wingdings 3"/>
        <a:buChar char=""/>
        <a:defRPr kumimoji="0" sz="1800" kern="1200">
          <a:solidFill>
            <a:schemeClr val="tx1"/>
          </a:solidFill>
          <a:latin typeface="+mn-lt"/>
          <a:ea typeface="+mn-ea"/>
          <a:cs typeface="+mn-cs"/>
        </a:defRPr>
      </a:lvl6pPr>
      <a:lvl7pPr marL="1965960" indent="-182880" algn="l" rtl="0" eaLnBrk="1" latinLnBrk="0" hangingPunct="1">
        <a:spcBef>
          <a:spcPct val="20000"/>
        </a:spcBef>
        <a:buClr>
          <a:schemeClr val="tx1"/>
        </a:buClr>
        <a:buFont typeface="Wingdings 2"/>
        <a:buChar char=""/>
        <a:defRPr kumimoji="0" sz="1600" kern="1200">
          <a:solidFill>
            <a:schemeClr val="tx1"/>
          </a:solidFill>
          <a:latin typeface="+mn-lt"/>
          <a:ea typeface="+mn-ea"/>
          <a:cs typeface="+mn-cs"/>
        </a:defRPr>
      </a:lvl7pPr>
      <a:lvl8pPr marL="2167128" indent="-182880" algn="l" rtl="0" eaLnBrk="1" latinLnBrk="0" hangingPunct="1">
        <a:spcBef>
          <a:spcPct val="20000"/>
        </a:spcBef>
        <a:buClr>
          <a:schemeClr val="tx1"/>
        </a:buClr>
        <a:buFont typeface="Wingdings 2"/>
        <a:buChar char=""/>
        <a:defRPr kumimoji="0" sz="1400" kern="1200">
          <a:solidFill>
            <a:schemeClr val="tx1"/>
          </a:solidFill>
          <a:latin typeface="+mn-lt"/>
          <a:ea typeface="+mn-ea"/>
          <a:cs typeface="+mn-cs"/>
        </a:defRPr>
      </a:lvl8pPr>
      <a:lvl9pPr marL="2368296" indent="-182880" algn="l" rtl="0" eaLnBrk="1" latinLnBrk="0" hangingPunct="1">
        <a:spcBef>
          <a:spcPct val="20000"/>
        </a:spcBef>
        <a:buClr>
          <a:schemeClr val="tx1"/>
        </a:buClr>
        <a:buFont typeface="Wingdings 2"/>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hyperlink" Target="https://developer.mozilla.org/" TargetMode="External"/><Relationship Id="rId2" Type="http://schemas.openxmlformats.org/officeDocument/2006/relationships/hyperlink" Target="https://www.w3schools.com/" TargetMode="External"/><Relationship Id="rId1" Type="http://schemas.openxmlformats.org/officeDocument/2006/relationships/slideLayout" Target="../slideLayouts/slideLayout2.xml"/><Relationship Id="rId4" Type="http://schemas.openxmlformats.org/officeDocument/2006/relationships/hyperlink" Target="https://www.freecodecamp.org/" TargetMode="Externa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a:effectLst/>
              </a:rPr>
              <a:t>E-Commerce Website</a:t>
            </a:r>
            <a:br>
              <a:rPr lang="en-US" dirty="0">
                <a:effectLst/>
              </a:rPr>
            </a:br>
            <a:endParaRPr lang="en-US" dirty="0"/>
          </a:p>
        </p:txBody>
      </p:sp>
      <p:sp>
        <p:nvSpPr>
          <p:cNvPr id="3" name="Subtitle 2"/>
          <p:cNvSpPr>
            <a:spLocks noGrp="1"/>
          </p:cNvSpPr>
          <p:nvPr>
            <p:ph type="subTitle" idx="1"/>
          </p:nvPr>
        </p:nvSpPr>
        <p:spPr/>
        <p:txBody>
          <a:bodyPr/>
          <a:lstStyle/>
          <a:p>
            <a:r>
              <a:rPr lang="en-US" sz="3600" dirty="0" smtClean="0"/>
              <a:t>Presented by</a:t>
            </a:r>
          </a:p>
          <a:p>
            <a:r>
              <a:rPr lang="en-US" sz="3600" dirty="0" err="1" smtClean="0"/>
              <a:t>Krushna</a:t>
            </a:r>
            <a:r>
              <a:rPr lang="en-US" sz="3600" dirty="0" smtClean="0"/>
              <a:t> </a:t>
            </a:r>
            <a:r>
              <a:rPr lang="en-US" sz="3600" dirty="0" err="1" smtClean="0"/>
              <a:t>di</a:t>
            </a:r>
            <a:r>
              <a:rPr lang="en-US" dirty="0" err="1" smtClean="0"/>
              <a:t>ge</a:t>
            </a:r>
            <a:endParaRPr lang="en-US" dirty="0"/>
          </a:p>
        </p:txBody>
      </p:sp>
    </p:spTree>
    <p:extLst>
      <p:ext uri="{BB962C8B-B14F-4D97-AF65-F5344CB8AC3E}">
        <p14:creationId xmlns:p14="http://schemas.microsoft.com/office/powerpoint/2010/main" val="9751476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en-US" sz="4400" dirty="0" smtClean="0">
                <a:effectLst/>
              </a:rPr>
              <a:t/>
            </a:r>
            <a:br>
              <a:rPr lang="en-US" sz="4400" dirty="0" smtClean="0">
                <a:effectLst/>
              </a:rPr>
            </a:br>
            <a:r>
              <a:rPr lang="en-US" sz="4400" dirty="0" smtClean="0">
                <a:effectLst/>
              </a:rPr>
              <a:t>INTRODUCTION</a:t>
            </a:r>
            <a:r>
              <a:rPr lang="en-US" sz="4400" dirty="0">
                <a:effectLst/>
              </a:rPr>
              <a:t/>
            </a:r>
            <a:br>
              <a:rPr lang="en-US" sz="4400" dirty="0">
                <a:effectLst/>
              </a:rPr>
            </a:br>
            <a:endParaRPr lang="en-US" sz="4400" dirty="0"/>
          </a:p>
        </p:txBody>
      </p:sp>
      <p:sp>
        <p:nvSpPr>
          <p:cNvPr id="3" name="Content Placeholder 2"/>
          <p:cNvSpPr>
            <a:spLocks noGrp="1"/>
          </p:cNvSpPr>
          <p:nvPr>
            <p:ph idx="1"/>
          </p:nvPr>
        </p:nvSpPr>
        <p:spPr/>
        <p:txBody>
          <a:bodyPr>
            <a:normAutofit lnSpcReduction="10000"/>
          </a:bodyPr>
          <a:lstStyle/>
          <a:p>
            <a:r>
              <a:rPr lang="en-US" dirty="0"/>
              <a:t>The </a:t>
            </a:r>
            <a:r>
              <a:rPr lang="en-US" b="1" dirty="0"/>
              <a:t>Shopping-WEB </a:t>
            </a:r>
            <a:r>
              <a:rPr lang="en-US" dirty="0"/>
              <a:t>project is a basic e-commerce website that allows users to browse, select, and purchase products online. It provides functionalities for user registration, login, product listing, adding items to a cart, and placing orders. The admin has control over product management, ensuring the platform remains updated. The website serves as a practical solution for understanding online shopping operations and offers a hands-on experience of developing a dynamic, database-driven shopping portal.</a:t>
            </a:r>
          </a:p>
          <a:p>
            <a:endParaRPr lang="en-US" dirty="0"/>
          </a:p>
        </p:txBody>
      </p:sp>
    </p:spTree>
    <p:extLst>
      <p:ext uri="{BB962C8B-B14F-4D97-AF65-F5344CB8AC3E}">
        <p14:creationId xmlns:p14="http://schemas.microsoft.com/office/powerpoint/2010/main" val="176633165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rPr>
              <a:t/>
            </a:r>
            <a:br>
              <a:rPr lang="en-US" dirty="0" smtClean="0">
                <a:effectLst/>
              </a:rPr>
            </a:br>
            <a:r>
              <a:rPr lang="en-US" sz="4400" dirty="0" smtClean="0">
                <a:effectLst/>
              </a:rPr>
              <a:t>OBJECTIVES</a:t>
            </a:r>
            <a:br>
              <a:rPr lang="en-US" sz="4400" dirty="0" smtClean="0">
                <a:effectLst/>
              </a:rPr>
            </a:br>
            <a:endParaRPr lang="en-US" dirty="0"/>
          </a:p>
        </p:txBody>
      </p:sp>
      <p:sp>
        <p:nvSpPr>
          <p:cNvPr id="3" name="Content Placeholder 2"/>
          <p:cNvSpPr>
            <a:spLocks noGrp="1"/>
          </p:cNvSpPr>
          <p:nvPr>
            <p:ph idx="1"/>
          </p:nvPr>
        </p:nvSpPr>
        <p:spPr/>
        <p:txBody>
          <a:bodyPr/>
          <a:lstStyle/>
          <a:p>
            <a:pPr lvl="0"/>
            <a:r>
              <a:rPr lang="en-US" dirty="0"/>
              <a:t>To create a user-friendly online shopping platform.</a:t>
            </a:r>
          </a:p>
          <a:p>
            <a:pPr marL="137160" indent="0">
              <a:buNone/>
            </a:pPr>
            <a:r>
              <a:rPr lang="en-US" dirty="0"/>
              <a:t> </a:t>
            </a:r>
          </a:p>
          <a:p>
            <a:pPr lvl="0"/>
            <a:r>
              <a:rPr lang="en-US" dirty="0"/>
              <a:t>To allow customers to register, browse products, add items to a cart, and place orders easily.</a:t>
            </a:r>
          </a:p>
          <a:p>
            <a:r>
              <a:rPr lang="en-US" dirty="0"/>
              <a:t>To provide an admin panel for managing products, categories, and orders</a:t>
            </a:r>
            <a:endParaRPr lang="en-US" dirty="0"/>
          </a:p>
        </p:txBody>
      </p:sp>
    </p:spTree>
    <p:extLst>
      <p:ext uri="{BB962C8B-B14F-4D97-AF65-F5344CB8AC3E}">
        <p14:creationId xmlns:p14="http://schemas.microsoft.com/office/powerpoint/2010/main" val="205411683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14400" y="381000"/>
            <a:ext cx="8229600" cy="1143000"/>
          </a:xfrm>
        </p:spPr>
        <p:txBody>
          <a:bodyPr>
            <a:noAutofit/>
          </a:bodyPr>
          <a:lstStyle/>
          <a:p>
            <a:r>
              <a:rPr lang="en-US" sz="2800" dirty="0" smtClean="0">
                <a:effectLst/>
              </a:rPr>
              <a:t/>
            </a:r>
            <a:br>
              <a:rPr lang="en-US" sz="2800" dirty="0" smtClean="0">
                <a:effectLst/>
              </a:rPr>
            </a:br>
            <a:r>
              <a:rPr lang="en-US" sz="3200" dirty="0" smtClean="0">
                <a:effectLst/>
              </a:rPr>
              <a:t>Software </a:t>
            </a:r>
            <a:r>
              <a:rPr lang="en-US" sz="3200" dirty="0">
                <a:effectLst/>
              </a:rPr>
              <a:t>&amp; Hardware Requirements</a:t>
            </a:r>
            <a:r>
              <a:rPr lang="en-US" sz="2800" dirty="0">
                <a:effectLst/>
              </a:rPr>
              <a:t/>
            </a:r>
            <a:br>
              <a:rPr lang="en-US" sz="2800" dirty="0">
                <a:effectLst/>
              </a:rPr>
            </a:br>
            <a:endParaRPr lang="en-US" sz="2800" dirty="0"/>
          </a:p>
        </p:txBody>
      </p:sp>
      <p:sp>
        <p:nvSpPr>
          <p:cNvPr id="3" name="Content Placeholder 2"/>
          <p:cNvSpPr>
            <a:spLocks noGrp="1"/>
          </p:cNvSpPr>
          <p:nvPr>
            <p:ph idx="1"/>
          </p:nvPr>
        </p:nvSpPr>
        <p:spPr/>
        <p:txBody>
          <a:bodyPr>
            <a:normAutofit fontScale="92500" lnSpcReduction="20000"/>
          </a:bodyPr>
          <a:lstStyle/>
          <a:p>
            <a:r>
              <a:rPr lang="en-US" b="1" i="1" dirty="0"/>
              <a:t>Software</a:t>
            </a:r>
            <a:r>
              <a:rPr lang="en-US" b="1" i="1" dirty="0" smtClean="0"/>
              <a:t>:</a:t>
            </a:r>
            <a:endParaRPr lang="en-US" dirty="0"/>
          </a:p>
          <a:p>
            <a:pPr lvl="0"/>
            <a:r>
              <a:rPr lang="en-US" dirty="0"/>
              <a:t>Web Browser (Chrome, Firefox, Safari)</a:t>
            </a:r>
          </a:p>
          <a:p>
            <a:pPr lvl="0"/>
            <a:r>
              <a:rPr lang="en-US" dirty="0"/>
              <a:t>Text Editor (VS Code, Sublime Text)</a:t>
            </a:r>
          </a:p>
          <a:p>
            <a:pPr lvl="0"/>
            <a:r>
              <a:rPr lang="en-US" dirty="0"/>
              <a:t>Web Server (for local development, such as XAMPP or WAMP)</a:t>
            </a:r>
          </a:p>
          <a:p>
            <a:pPr lvl="0"/>
            <a:r>
              <a:rPr lang="en-US" dirty="0"/>
              <a:t>HTML for frontend </a:t>
            </a:r>
            <a:r>
              <a:rPr lang="en-US" dirty="0" smtClean="0"/>
              <a:t>development</a:t>
            </a:r>
          </a:p>
          <a:p>
            <a:pPr lvl="0"/>
            <a:endParaRPr lang="en-US" dirty="0" smtClean="0"/>
          </a:p>
          <a:p>
            <a:r>
              <a:rPr lang="en-US" b="1" i="1" dirty="0"/>
              <a:t>Hardware</a:t>
            </a:r>
            <a:r>
              <a:rPr lang="en-US" b="1" i="1" dirty="0" smtClean="0"/>
              <a:t>:</a:t>
            </a:r>
            <a:endParaRPr lang="en-US" dirty="0"/>
          </a:p>
          <a:p>
            <a:pPr lvl="0"/>
            <a:r>
              <a:rPr lang="en-US" dirty="0"/>
              <a:t>A computer or laptop with at least 4GB of RAM</a:t>
            </a:r>
          </a:p>
          <a:p>
            <a:pPr lvl="0"/>
            <a:r>
              <a:rPr lang="en-US" dirty="0"/>
              <a:t>Internet connectivity for browsing and testing</a:t>
            </a:r>
          </a:p>
          <a:p>
            <a:pPr marL="137160" indent="0">
              <a:buNone/>
            </a:pPr>
            <a:r>
              <a:rPr lang="en-US" dirty="0"/>
              <a:t> </a:t>
            </a:r>
          </a:p>
          <a:p>
            <a:pPr lvl="0"/>
            <a:endParaRPr lang="en-US" dirty="0"/>
          </a:p>
          <a:p>
            <a:endParaRPr lang="en-US" dirty="0"/>
          </a:p>
        </p:txBody>
      </p:sp>
    </p:spTree>
    <p:extLst>
      <p:ext uri="{BB962C8B-B14F-4D97-AF65-F5344CB8AC3E}">
        <p14:creationId xmlns:p14="http://schemas.microsoft.com/office/powerpoint/2010/main" val="4091818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rPr>
              <a:t/>
            </a:r>
            <a:br>
              <a:rPr lang="en-US" dirty="0" smtClean="0">
                <a:effectLst/>
              </a:rPr>
            </a:br>
            <a:r>
              <a:rPr lang="en-US" dirty="0" smtClean="0">
                <a:effectLst/>
              </a:rPr>
              <a:t>Feasibility Study</a:t>
            </a:r>
            <a:r>
              <a:rPr lang="en-US" dirty="0">
                <a:effectLst/>
              </a:rPr>
              <a:t/>
            </a:r>
            <a:br>
              <a:rPr lang="en-US" dirty="0">
                <a:effectLst/>
              </a:rPr>
            </a:br>
            <a:endParaRPr lang="en-US" dirty="0"/>
          </a:p>
        </p:txBody>
      </p:sp>
      <p:sp>
        <p:nvSpPr>
          <p:cNvPr id="3" name="Content Placeholder 2"/>
          <p:cNvSpPr>
            <a:spLocks noGrp="1"/>
          </p:cNvSpPr>
          <p:nvPr>
            <p:ph idx="1"/>
          </p:nvPr>
        </p:nvSpPr>
        <p:spPr/>
        <p:txBody>
          <a:bodyPr/>
          <a:lstStyle/>
          <a:p>
            <a:r>
              <a:rPr lang="en-US" dirty="0"/>
              <a:t>The </a:t>
            </a:r>
            <a:r>
              <a:rPr lang="en-US" b="1" dirty="0"/>
              <a:t>Shopping-WEB </a:t>
            </a:r>
            <a:r>
              <a:rPr lang="en-US" dirty="0"/>
              <a:t>project is technically feasible since it uses standard web technologies (HTML) and can be implemented with minimal resources. The project doesn't require complex backend or database integration, making it easy to develop and maintain. Operationally, it is a simple static website suitable for small-scale businesses. Financially, the project is cost-effective, as it can be launched with low initial costs, mainly for domain and hosting.</a:t>
            </a:r>
          </a:p>
          <a:p>
            <a:pPr marL="137160" indent="0">
              <a:buNone/>
            </a:pPr>
            <a:endParaRPr lang="en-US" dirty="0"/>
          </a:p>
        </p:txBody>
      </p:sp>
    </p:spTree>
    <p:extLst>
      <p:ext uri="{BB962C8B-B14F-4D97-AF65-F5344CB8AC3E}">
        <p14:creationId xmlns:p14="http://schemas.microsoft.com/office/powerpoint/2010/main" val="122606912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rPr>
              <a:t/>
            </a:r>
            <a:br>
              <a:rPr lang="en-US" dirty="0" smtClean="0">
                <a:effectLst/>
              </a:rPr>
            </a:br>
            <a:r>
              <a:rPr lang="en-US" sz="4400" dirty="0" smtClean="0">
                <a:effectLst/>
              </a:rPr>
              <a:t>System </a:t>
            </a:r>
            <a:r>
              <a:rPr lang="en-US" sz="4400" dirty="0">
                <a:effectLst/>
              </a:rPr>
              <a:t>Analysis</a:t>
            </a:r>
            <a:r>
              <a:rPr lang="en-US" dirty="0">
                <a:effectLst/>
              </a:rPr>
              <a:t/>
            </a:r>
            <a:br>
              <a:rPr lang="en-US" dirty="0">
                <a:effectLst/>
              </a:rPr>
            </a:br>
            <a:endParaRPr lang="en-US" dirty="0"/>
          </a:p>
        </p:txBody>
      </p:sp>
      <p:sp>
        <p:nvSpPr>
          <p:cNvPr id="3" name="Content Placeholder 2"/>
          <p:cNvSpPr>
            <a:spLocks noGrp="1"/>
          </p:cNvSpPr>
          <p:nvPr>
            <p:ph idx="1"/>
          </p:nvPr>
        </p:nvSpPr>
        <p:spPr/>
        <p:txBody>
          <a:bodyPr/>
          <a:lstStyle/>
          <a:p>
            <a:r>
              <a:rPr lang="en-US" dirty="0"/>
              <a:t>The </a:t>
            </a:r>
            <a:r>
              <a:rPr lang="en-US" b="1" dirty="0"/>
              <a:t>Shopping-WEB </a:t>
            </a:r>
            <a:r>
              <a:rPr lang="en-US" dirty="0"/>
              <a:t>project is a basic static website that does not involve complex backend systems or databases. It relies solely on HTML for its structure and layout, making it simple to deploy and maintain. The system's primary function is to display products, provide contact details, and offer a basic informational platform for users. There are no interactive features like user accounts or dynamic content at this stage.</a:t>
            </a:r>
            <a:endParaRPr lang="en-US" dirty="0"/>
          </a:p>
        </p:txBody>
      </p:sp>
    </p:spTree>
    <p:extLst>
      <p:ext uri="{BB962C8B-B14F-4D97-AF65-F5344CB8AC3E}">
        <p14:creationId xmlns:p14="http://schemas.microsoft.com/office/powerpoint/2010/main" val="2060413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effectLst/>
              </a:rPr>
              <a:t>Proposed System &amp; Advantages</a:t>
            </a:r>
            <a:endParaRPr lang="en-US" dirty="0"/>
          </a:p>
        </p:txBody>
      </p:sp>
      <p:sp>
        <p:nvSpPr>
          <p:cNvPr id="3" name="Content Placeholder 2"/>
          <p:cNvSpPr>
            <a:spLocks noGrp="1"/>
          </p:cNvSpPr>
          <p:nvPr>
            <p:ph idx="1"/>
          </p:nvPr>
        </p:nvSpPr>
        <p:spPr/>
        <p:txBody>
          <a:bodyPr/>
          <a:lstStyle/>
          <a:p>
            <a:r>
              <a:rPr lang="en-US" b="1" i="1" dirty="0"/>
              <a:t>Proposed System</a:t>
            </a:r>
            <a:r>
              <a:rPr lang="en-US" b="1" i="1" dirty="0" smtClean="0"/>
              <a:t>:-</a:t>
            </a:r>
            <a:endParaRPr lang="en-US" b="1" i="1" dirty="0"/>
          </a:p>
          <a:p>
            <a:pPr marL="137160" indent="0">
              <a:buNone/>
            </a:pPr>
            <a:endParaRPr lang="en-US" dirty="0"/>
          </a:p>
          <a:p>
            <a:r>
              <a:rPr lang="en-US" dirty="0"/>
              <a:t>The </a:t>
            </a:r>
            <a:r>
              <a:rPr lang="en-US" b="1" dirty="0"/>
              <a:t>Shopping-WEB </a:t>
            </a:r>
            <a:r>
              <a:rPr lang="en-US" dirty="0"/>
              <a:t>project aims to create a simple static e-commerce website where users can view products, read basic information, and get in touch with the seller. It will feature easy navigation and provide essential pages for showcasing products, contact details, and company information.</a:t>
            </a:r>
          </a:p>
          <a:p>
            <a:pPr marL="137160" indent="0">
              <a:buNone/>
            </a:pPr>
            <a:endParaRPr lang="en-US" dirty="0"/>
          </a:p>
        </p:txBody>
      </p:sp>
    </p:spTree>
    <p:extLst>
      <p:ext uri="{BB962C8B-B14F-4D97-AF65-F5344CB8AC3E}">
        <p14:creationId xmlns:p14="http://schemas.microsoft.com/office/powerpoint/2010/main" val="31255799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400" dirty="0" smtClean="0">
                <a:effectLst/>
              </a:rPr>
              <a:t>Advantages</a:t>
            </a:r>
            <a:endParaRPr lang="en-US" sz="4400" dirty="0"/>
          </a:p>
        </p:txBody>
      </p:sp>
      <p:sp>
        <p:nvSpPr>
          <p:cNvPr id="3" name="Content Placeholder 2"/>
          <p:cNvSpPr>
            <a:spLocks noGrp="1"/>
          </p:cNvSpPr>
          <p:nvPr>
            <p:ph idx="1"/>
          </p:nvPr>
        </p:nvSpPr>
        <p:spPr/>
        <p:txBody>
          <a:bodyPr/>
          <a:lstStyle/>
          <a:p>
            <a:pPr marL="137160" indent="0">
              <a:buNone/>
            </a:pPr>
            <a:r>
              <a:rPr lang="en-US" b="1" i="1" dirty="0"/>
              <a:t> </a:t>
            </a:r>
            <a:endParaRPr lang="en-US" dirty="0"/>
          </a:p>
          <a:p>
            <a:pPr lvl="0"/>
            <a:r>
              <a:rPr lang="en-US" b="1" dirty="0"/>
              <a:t>Simple and Cost-Effective: </a:t>
            </a:r>
            <a:r>
              <a:rPr lang="en-US" dirty="0"/>
              <a:t>Minimal development and maintenance costs.</a:t>
            </a:r>
          </a:p>
          <a:p>
            <a:pPr lvl="0"/>
            <a:r>
              <a:rPr lang="en-US" dirty="0"/>
              <a:t/>
            </a:r>
            <a:br>
              <a:rPr lang="en-US" dirty="0"/>
            </a:br>
            <a:r>
              <a:rPr lang="en-US" b="1" dirty="0"/>
              <a:t>Easy to Deploy: </a:t>
            </a:r>
            <a:r>
              <a:rPr lang="en-US" dirty="0"/>
              <a:t>No complex backend or database is required.</a:t>
            </a:r>
          </a:p>
          <a:p>
            <a:pPr lvl="0"/>
            <a:r>
              <a:rPr lang="en-US" b="1" dirty="0"/>
              <a:t>User-Friendly: </a:t>
            </a:r>
            <a:r>
              <a:rPr lang="en-US" dirty="0"/>
              <a:t>Clean layout and easy navigation for visitors.</a:t>
            </a:r>
          </a:p>
          <a:p>
            <a:endParaRPr lang="en-US" dirty="0"/>
          </a:p>
        </p:txBody>
      </p:sp>
    </p:spTree>
    <p:extLst>
      <p:ext uri="{BB962C8B-B14F-4D97-AF65-F5344CB8AC3E}">
        <p14:creationId xmlns:p14="http://schemas.microsoft.com/office/powerpoint/2010/main" val="73363355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effectLst/>
              </a:rPr>
              <a:t>Design</a:t>
            </a:r>
            <a:endParaRPr lang="en-US" dirty="0"/>
          </a:p>
        </p:txBody>
      </p:sp>
      <p:sp>
        <p:nvSpPr>
          <p:cNvPr id="3" name="Content Placeholder 2"/>
          <p:cNvSpPr>
            <a:spLocks noGrp="1"/>
          </p:cNvSpPr>
          <p:nvPr>
            <p:ph idx="1"/>
          </p:nvPr>
        </p:nvSpPr>
        <p:spPr/>
        <p:txBody>
          <a:bodyPr>
            <a:normAutofit fontScale="70000" lnSpcReduction="20000"/>
          </a:bodyPr>
          <a:lstStyle/>
          <a:p>
            <a:r>
              <a:rPr lang="en-US" b="1" dirty="0"/>
              <a:t>ER Diagram: </a:t>
            </a:r>
            <a:endParaRPr lang="en-US" b="1" dirty="0" smtClean="0"/>
          </a:p>
          <a:p>
            <a:r>
              <a:rPr lang="en-US" b="1" dirty="0" smtClean="0"/>
              <a:t>Data </a:t>
            </a:r>
            <a:r>
              <a:rPr lang="en-US" b="1" dirty="0"/>
              <a:t>Dictionary</a:t>
            </a:r>
            <a:r>
              <a:rPr lang="en-US" b="1" dirty="0" smtClean="0"/>
              <a:t>:</a:t>
            </a:r>
            <a:r>
              <a:rPr lang="en-US" b="1" dirty="0"/>
              <a:t> </a:t>
            </a:r>
            <a:endParaRPr lang="en-US" b="1" dirty="0"/>
          </a:p>
          <a:p>
            <a:endParaRPr lang="en-US" dirty="0"/>
          </a:p>
          <a:p>
            <a:r>
              <a:rPr lang="en-US" b="1" dirty="0"/>
              <a:t>Input &amp; Output Screens</a:t>
            </a:r>
            <a:endParaRPr lang="en-US" dirty="0"/>
          </a:p>
          <a:p>
            <a:r>
              <a:rPr lang="en-US" b="1" dirty="0"/>
              <a:t/>
            </a:r>
            <a:br>
              <a:rPr lang="en-US" b="1" dirty="0"/>
            </a:br>
            <a:r>
              <a:rPr lang="en-US" b="1" dirty="0"/>
              <a:t>Limitations of the Website:</a:t>
            </a:r>
            <a:endParaRPr lang="en-US" dirty="0"/>
          </a:p>
          <a:p>
            <a:pPr lvl="0"/>
            <a:r>
              <a:rPr lang="en-US" b="1" dirty="0"/>
              <a:t>Static Content</a:t>
            </a:r>
            <a:r>
              <a:rPr lang="en-US" dirty="0"/>
              <a:t>: The website lacks dynamic features like user accounts, product search, or real-time updates.</a:t>
            </a:r>
          </a:p>
          <a:p>
            <a:pPr lvl="0"/>
            <a:r>
              <a:rPr lang="en-US" b="1" dirty="0"/>
              <a:t>No Backend Integration</a:t>
            </a:r>
            <a:r>
              <a:rPr lang="en-US" dirty="0"/>
              <a:t>: There is no database for managing products or user data.</a:t>
            </a:r>
          </a:p>
          <a:p>
            <a:pPr lvl="0"/>
            <a:r>
              <a:rPr lang="en-US" b="1" dirty="0"/>
              <a:t>Limited E-commerce Features</a:t>
            </a:r>
            <a:r>
              <a:rPr lang="en-US" dirty="0"/>
              <a:t>: No payment integration or cart functionality.</a:t>
            </a:r>
          </a:p>
          <a:p>
            <a:pPr lvl="0"/>
            <a:r>
              <a:rPr lang="en-US" b="1" dirty="0"/>
              <a:t>No Responsiveness</a:t>
            </a:r>
            <a:r>
              <a:rPr lang="en-US" dirty="0"/>
              <a:t>: The website is not optimized for mobile devices or varying screen sizes.</a:t>
            </a:r>
          </a:p>
          <a:p>
            <a:pPr lvl="0"/>
            <a:r>
              <a:rPr lang="en-US" b="1" dirty="0"/>
              <a:t>Minimal Design</a:t>
            </a:r>
            <a:r>
              <a:rPr lang="en-US" dirty="0"/>
              <a:t>: The website lacks advanced features such as interactive elements or animations.</a:t>
            </a:r>
          </a:p>
          <a:p>
            <a:endParaRPr lang="en-US" dirty="0"/>
          </a:p>
        </p:txBody>
      </p:sp>
    </p:spTree>
    <p:extLst>
      <p:ext uri="{BB962C8B-B14F-4D97-AF65-F5344CB8AC3E}">
        <p14:creationId xmlns:p14="http://schemas.microsoft.com/office/powerpoint/2010/main" val="1072070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effectLst/>
              </a:rPr>
              <a:t>Future Enhancement</a:t>
            </a:r>
            <a:endParaRPr lang="en-US" dirty="0"/>
          </a:p>
        </p:txBody>
      </p:sp>
      <p:sp>
        <p:nvSpPr>
          <p:cNvPr id="3" name="Content Placeholder 2"/>
          <p:cNvSpPr>
            <a:spLocks noGrp="1"/>
          </p:cNvSpPr>
          <p:nvPr>
            <p:ph idx="1"/>
          </p:nvPr>
        </p:nvSpPr>
        <p:spPr/>
        <p:txBody>
          <a:bodyPr>
            <a:normAutofit/>
          </a:bodyPr>
          <a:lstStyle/>
          <a:p>
            <a:pPr lvl="0"/>
            <a:r>
              <a:rPr lang="en-US" sz="2400" b="1" dirty="0"/>
              <a:t>Dynamic Content: </a:t>
            </a:r>
            <a:r>
              <a:rPr lang="en-US" sz="2400" dirty="0"/>
              <a:t>Add backend integration to manage products, user accounts, and orders.</a:t>
            </a:r>
          </a:p>
          <a:p>
            <a:pPr lvl="0"/>
            <a:r>
              <a:rPr lang="en-US" sz="2400" b="1" dirty="0"/>
              <a:t>E-commerce Features: </a:t>
            </a:r>
            <a:r>
              <a:rPr lang="en-US" sz="2400" dirty="0"/>
              <a:t>Implement a shopping cart, product search, and payment gateway for complete online shopping functionality.</a:t>
            </a:r>
          </a:p>
          <a:p>
            <a:pPr lvl="0"/>
            <a:r>
              <a:rPr lang="en-US" sz="2400" b="1" dirty="0"/>
              <a:t>Responsive Design: </a:t>
            </a:r>
            <a:r>
              <a:rPr lang="en-US" sz="2400" dirty="0"/>
              <a:t>Ensure the website is mobile-friendly and works across various screen sizes.</a:t>
            </a:r>
          </a:p>
          <a:p>
            <a:pPr lvl="0"/>
            <a:r>
              <a:rPr lang="en-US" sz="2400" b="1" dirty="0"/>
              <a:t>SEO Optimization: </a:t>
            </a:r>
            <a:r>
              <a:rPr lang="en-US" sz="2400" dirty="0"/>
              <a:t>Improve visibility on search engines to attract more visitors.</a:t>
            </a:r>
          </a:p>
          <a:p>
            <a:pPr lvl="0"/>
            <a:r>
              <a:rPr lang="en-US" sz="2400" b="1" dirty="0"/>
              <a:t>Interactive UI Elements: </a:t>
            </a:r>
            <a:r>
              <a:rPr lang="en-US" sz="2400" dirty="0"/>
              <a:t>Add animations, transitions, and hover effects for better user engagement.</a:t>
            </a:r>
          </a:p>
          <a:p>
            <a:endParaRPr lang="en-US" sz="2400" dirty="0"/>
          </a:p>
        </p:txBody>
      </p:sp>
    </p:spTree>
    <p:extLst>
      <p:ext uri="{BB962C8B-B14F-4D97-AF65-F5344CB8AC3E}">
        <p14:creationId xmlns:p14="http://schemas.microsoft.com/office/powerpoint/2010/main" val="21470046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effectLst/>
              </a:rPr>
              <a:t>ER Diagram</a:t>
            </a:r>
            <a:endParaRPr lang="en-US" dirty="0"/>
          </a:p>
        </p:txBody>
      </p:sp>
      <p:pic>
        <p:nvPicPr>
          <p:cNvPr id="4" name="Image 7" descr="C:\Users\15\Downloads\ER dige.png"/>
          <p:cNvPicPr>
            <a:picLocks noGrp="1"/>
          </p:cNvPicPr>
          <p:nvPr>
            <p:ph idx="1"/>
          </p:nvPr>
        </p:nvPicPr>
        <p:blipFill>
          <a:blip r:embed="rId2" cstate="print"/>
          <a:stretch>
            <a:fillRect/>
          </a:stretch>
        </p:blipFill>
        <p:spPr>
          <a:xfrm>
            <a:off x="1219200" y="1524000"/>
            <a:ext cx="6400800" cy="4800600"/>
          </a:xfrm>
          <a:prstGeom prst="rect">
            <a:avLst/>
          </a:prstGeom>
        </p:spPr>
      </p:pic>
    </p:spTree>
    <p:extLst>
      <p:ext uri="{BB962C8B-B14F-4D97-AF65-F5344CB8AC3E}">
        <p14:creationId xmlns:p14="http://schemas.microsoft.com/office/powerpoint/2010/main" val="85539378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smtClean="0">
                <a:effectLst/>
              </a:rPr>
              <a:t/>
            </a:r>
            <a:br>
              <a:rPr lang="en-US" u="sng" dirty="0" smtClean="0">
                <a:effectLst/>
              </a:rPr>
            </a:br>
            <a:r>
              <a:rPr lang="en-US" u="sng" dirty="0" smtClean="0">
                <a:effectLst/>
              </a:rPr>
              <a:t>HOME </a:t>
            </a:r>
            <a:r>
              <a:rPr lang="en-US" u="sng" dirty="0">
                <a:effectLst/>
              </a:rPr>
              <a:t>PAGE</a:t>
            </a:r>
            <a:r>
              <a:rPr lang="en-US" dirty="0">
                <a:effectLst/>
              </a:rPr>
              <a:t/>
            </a:r>
            <a:br>
              <a:rPr lang="en-US" dirty="0">
                <a:effectLst/>
              </a:rPr>
            </a:br>
            <a:endParaRPr lang="en-US" dirty="0"/>
          </a:p>
        </p:txBody>
      </p:sp>
      <p:pic>
        <p:nvPicPr>
          <p:cNvPr id="4" name="Image 8" descr="D:\Screenshot\screenshot 01.png"/>
          <p:cNvPicPr>
            <a:picLocks noGrp="1"/>
          </p:cNvPicPr>
          <p:nvPr>
            <p:ph idx="1"/>
          </p:nvPr>
        </p:nvPicPr>
        <p:blipFill>
          <a:blip r:embed="rId2" cstate="print"/>
          <a:stretch>
            <a:fillRect/>
          </a:stretch>
        </p:blipFill>
        <p:spPr>
          <a:xfrm>
            <a:off x="457200" y="1600200"/>
            <a:ext cx="8229600" cy="4380203"/>
          </a:xfrm>
          <a:prstGeom prst="rect">
            <a:avLst/>
          </a:prstGeom>
        </p:spPr>
      </p:pic>
    </p:spTree>
    <p:extLst>
      <p:ext uri="{BB962C8B-B14F-4D97-AF65-F5344CB8AC3E}">
        <p14:creationId xmlns:p14="http://schemas.microsoft.com/office/powerpoint/2010/main" val="1354237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smtClean="0">
                <a:effectLst/>
              </a:rPr>
              <a:t/>
            </a:r>
            <a:br>
              <a:rPr lang="en-US" u="sng" dirty="0" smtClean="0">
                <a:effectLst/>
              </a:rPr>
            </a:br>
            <a:r>
              <a:rPr lang="en-US" u="sng" dirty="0" smtClean="0">
                <a:effectLst/>
              </a:rPr>
              <a:t>SHOP </a:t>
            </a:r>
            <a:r>
              <a:rPr lang="en-US" u="sng" dirty="0">
                <a:effectLst/>
              </a:rPr>
              <a:t>PAGE</a:t>
            </a:r>
            <a:r>
              <a:rPr lang="en-US" dirty="0">
                <a:effectLst/>
              </a:rPr>
              <a:t/>
            </a:r>
            <a:br>
              <a:rPr lang="en-US" dirty="0">
                <a:effectLst/>
              </a:rPr>
            </a:br>
            <a:endParaRPr lang="en-US" dirty="0"/>
          </a:p>
        </p:txBody>
      </p:sp>
      <p:pic>
        <p:nvPicPr>
          <p:cNvPr id="4" name="Image 9" descr="D:\Screenshot\screenshot 02.png"/>
          <p:cNvPicPr>
            <a:picLocks noGrp="1"/>
          </p:cNvPicPr>
          <p:nvPr>
            <p:ph idx="1"/>
          </p:nvPr>
        </p:nvPicPr>
        <p:blipFill>
          <a:blip r:embed="rId2" cstate="print"/>
          <a:stretch>
            <a:fillRect/>
          </a:stretch>
        </p:blipFill>
        <p:spPr>
          <a:xfrm>
            <a:off x="457200" y="1892411"/>
            <a:ext cx="8229600" cy="4124102"/>
          </a:xfrm>
          <a:prstGeom prst="rect">
            <a:avLst/>
          </a:prstGeom>
        </p:spPr>
      </p:pic>
    </p:spTree>
    <p:extLst>
      <p:ext uri="{BB962C8B-B14F-4D97-AF65-F5344CB8AC3E}">
        <p14:creationId xmlns:p14="http://schemas.microsoft.com/office/powerpoint/2010/main" val="16964594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u="sng" dirty="0" smtClean="0">
                <a:effectLst/>
              </a:rPr>
              <a:t/>
            </a:r>
            <a:br>
              <a:rPr lang="en-US" u="sng" dirty="0" smtClean="0">
                <a:effectLst/>
              </a:rPr>
            </a:br>
            <a:r>
              <a:rPr lang="en-US" u="sng" dirty="0" smtClean="0">
                <a:effectLst/>
              </a:rPr>
              <a:t>SIGN </a:t>
            </a:r>
            <a:r>
              <a:rPr lang="en-US" u="sng" dirty="0">
                <a:effectLst/>
              </a:rPr>
              <a:t>UP PAGE</a:t>
            </a:r>
            <a:r>
              <a:rPr lang="en-US" dirty="0">
                <a:effectLst/>
              </a:rPr>
              <a:t/>
            </a:r>
            <a:br>
              <a:rPr lang="en-US" dirty="0">
                <a:effectLst/>
              </a:rPr>
            </a:br>
            <a:endParaRPr lang="en-US" dirty="0"/>
          </a:p>
        </p:txBody>
      </p:sp>
      <p:pic>
        <p:nvPicPr>
          <p:cNvPr id="4" name="Image 10" descr="D:\Screenshot\screenshot 03.png"/>
          <p:cNvPicPr>
            <a:picLocks noGrp="1"/>
          </p:cNvPicPr>
          <p:nvPr>
            <p:ph idx="1"/>
          </p:nvPr>
        </p:nvPicPr>
        <p:blipFill>
          <a:blip r:embed="rId2" cstate="print"/>
          <a:stretch>
            <a:fillRect/>
          </a:stretch>
        </p:blipFill>
        <p:spPr>
          <a:xfrm>
            <a:off x="457200" y="2191422"/>
            <a:ext cx="8229600" cy="3526081"/>
          </a:xfrm>
          <a:prstGeom prst="rect">
            <a:avLst/>
          </a:prstGeom>
        </p:spPr>
      </p:pic>
    </p:spTree>
    <p:extLst>
      <p:ext uri="{BB962C8B-B14F-4D97-AF65-F5344CB8AC3E}">
        <p14:creationId xmlns:p14="http://schemas.microsoft.com/office/powerpoint/2010/main" val="12928555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u="sng" dirty="0">
                <a:effectLst/>
              </a:rPr>
              <a:t>Bibliography</a:t>
            </a:r>
            <a:endParaRPr lang="en-US" u="sng" dirty="0"/>
          </a:p>
        </p:txBody>
      </p:sp>
      <p:sp>
        <p:nvSpPr>
          <p:cNvPr id="3" name="Content Placeholder 2"/>
          <p:cNvSpPr>
            <a:spLocks noGrp="1"/>
          </p:cNvSpPr>
          <p:nvPr>
            <p:ph idx="1"/>
          </p:nvPr>
        </p:nvSpPr>
        <p:spPr/>
        <p:txBody>
          <a:bodyPr>
            <a:normAutofit/>
          </a:bodyPr>
          <a:lstStyle/>
          <a:p>
            <a:pPr lvl="0"/>
            <a:r>
              <a:rPr lang="en-US" b="1" dirty="0"/>
              <a:t>W3Schools</a:t>
            </a:r>
            <a:r>
              <a:rPr lang="en-US" dirty="0"/>
              <a:t>: Offers tutorials and references on HTML, CSS, JavaScript, and web development technologies. </a:t>
            </a:r>
            <a:r>
              <a:rPr lang="en-US" u="sng" dirty="0">
                <a:hlinkClick r:id="rId2"/>
              </a:rPr>
              <a:t>Link </a:t>
            </a:r>
            <a:r>
              <a:rPr lang="en-US" u="sng" dirty="0" smtClean="0">
                <a:hlinkClick r:id="rId2"/>
              </a:rPr>
              <a:t>toW3Schools</a:t>
            </a:r>
            <a:endParaRPr lang="en-US" dirty="0"/>
          </a:p>
          <a:p>
            <a:pPr marL="137160" indent="0">
              <a:buNone/>
            </a:pPr>
            <a:r>
              <a:rPr lang="en-US" dirty="0"/>
              <a:t> </a:t>
            </a:r>
          </a:p>
          <a:p>
            <a:pPr lvl="0"/>
            <a:r>
              <a:rPr lang="en-US" b="1" dirty="0"/>
              <a:t>MDN Web Docs</a:t>
            </a:r>
            <a:r>
              <a:rPr lang="en-US" dirty="0"/>
              <a:t>: Comprehensive documentation on web standards and best practices. </a:t>
            </a:r>
            <a:r>
              <a:rPr lang="en-US" u="sng" dirty="0">
                <a:hlinkClick r:id="rId3"/>
              </a:rPr>
              <a:t>Link to MDN</a:t>
            </a:r>
            <a:endParaRPr lang="en-US" dirty="0"/>
          </a:p>
          <a:p>
            <a:pPr lvl="0"/>
            <a:r>
              <a:rPr lang="en-US" b="1" dirty="0" err="1"/>
              <a:t>FreeCodeCamp</a:t>
            </a:r>
            <a:r>
              <a:rPr lang="en-US" dirty="0"/>
              <a:t>: Provides guides and tutorials on web design and development, including responsive design. </a:t>
            </a:r>
            <a:r>
              <a:rPr lang="en-US" u="sng" dirty="0">
                <a:hlinkClick r:id="rId4"/>
              </a:rPr>
              <a:t>Link to </a:t>
            </a:r>
            <a:r>
              <a:rPr lang="en-US" u="sng" dirty="0" err="1">
                <a:hlinkClick r:id="rId4"/>
              </a:rPr>
              <a:t>FreeCodeCamp</a:t>
            </a:r>
            <a:endParaRPr lang="en-US" dirty="0"/>
          </a:p>
        </p:txBody>
      </p:sp>
    </p:spTree>
    <p:extLst>
      <p:ext uri="{BB962C8B-B14F-4D97-AF65-F5344CB8AC3E}">
        <p14:creationId xmlns:p14="http://schemas.microsoft.com/office/powerpoint/2010/main" val="2906654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1828800"/>
            <a:ext cx="8153400" cy="2514600"/>
          </a:xfrm>
        </p:spPr>
        <p:txBody>
          <a:bodyPr>
            <a:normAutofit/>
          </a:bodyPr>
          <a:lstStyle/>
          <a:p>
            <a:r>
              <a:rPr lang="en-US" sz="11500" dirty="0" smtClean="0"/>
              <a:t>Thank you</a:t>
            </a:r>
            <a:endParaRPr lang="en-US" sz="11500" dirty="0"/>
          </a:p>
        </p:txBody>
      </p:sp>
    </p:spTree>
    <p:extLst>
      <p:ext uri="{BB962C8B-B14F-4D97-AF65-F5344CB8AC3E}">
        <p14:creationId xmlns:p14="http://schemas.microsoft.com/office/powerpoint/2010/main" val="3711483710"/>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Apex">
  <a:themeElements>
    <a:clrScheme name="Apex">
      <a:dk1>
        <a:sysClr val="windowText" lastClr="000000"/>
      </a:dk1>
      <a:lt1>
        <a:sysClr val="window" lastClr="FFFFFF"/>
      </a:lt1>
      <a:dk2>
        <a:srgbClr val="69676D"/>
      </a:dk2>
      <a:lt2>
        <a:srgbClr val="C9C2D1"/>
      </a:lt2>
      <a:accent1>
        <a:srgbClr val="CEB966"/>
      </a:accent1>
      <a:accent2>
        <a:srgbClr val="9CB084"/>
      </a:accent2>
      <a:accent3>
        <a:srgbClr val="6BB1C9"/>
      </a:accent3>
      <a:accent4>
        <a:srgbClr val="6585CF"/>
      </a:accent4>
      <a:accent5>
        <a:srgbClr val="7E6BC9"/>
      </a:accent5>
      <a:accent6>
        <a:srgbClr val="A379BB"/>
      </a:accent6>
      <a:hlink>
        <a:srgbClr val="410082"/>
      </a:hlink>
      <a:folHlink>
        <a:srgbClr val="932968"/>
      </a:folHlink>
    </a:clrScheme>
    <a:fontScheme name="Apex">
      <a:majorFont>
        <a:latin typeface="Lucida Sans"/>
        <a:ea typeface=""/>
        <a:cs typeface=""/>
        <a:font script="Grek" typeface="Arial"/>
        <a:font script="Cyrl" typeface="Arial"/>
        <a:font script="Jpan" typeface="HG丸ｺﾞｼｯｸM-PRO"/>
        <a:font script="Hang" typeface="휴먼옛체"/>
        <a:font script="Hans" typeface="黑体"/>
        <a:font script="Hant" typeface="微軟正黑體"/>
        <a:font script="Arab" typeface="Tahoma"/>
        <a:font script="Hebr" typeface="Levenim MT"/>
        <a:font script="Thai" typeface="Frees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Book Antiqua"/>
        <a:ea typeface=""/>
        <a:cs typeface=""/>
        <a:font script="Grek" typeface="Times New Roman"/>
        <a:font script="Cyrl" typeface="Times New Roman"/>
        <a:font script="Jpan" typeface="HG明朝B"/>
        <a:font script="Hang" typeface="돋움"/>
        <a:font script="Hans" typeface="宋体"/>
        <a:font script="Hant" typeface="新細明體"/>
        <a:font script="Arab" typeface="Times New Roman"/>
        <a:font script="Hebr" typeface="David"/>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Apex">
      <a:fillStyleLst>
        <a:solidFill>
          <a:schemeClr val="phClr"/>
        </a:solidFill>
        <a:gradFill rotWithShape="1">
          <a:gsLst>
            <a:gs pos="20000">
              <a:schemeClr val="phClr">
                <a:tint val="9000"/>
              </a:schemeClr>
            </a:gs>
            <a:gs pos="100000">
              <a:schemeClr val="phClr">
                <a:tint val="70000"/>
                <a:satMod val="100000"/>
              </a:schemeClr>
            </a:gs>
          </a:gsLst>
          <a:path path="circle">
            <a:fillToRect l="-15000" t="-15000" r="115000" b="115000"/>
          </a:path>
        </a:gradFill>
        <a:gradFill rotWithShape="1">
          <a:gsLst>
            <a:gs pos="0">
              <a:schemeClr val="phClr">
                <a:shade val="60000"/>
              </a:schemeClr>
            </a:gs>
            <a:gs pos="33000">
              <a:schemeClr val="phClr">
                <a:tint val="86500"/>
              </a:schemeClr>
            </a:gs>
            <a:gs pos="46750">
              <a:schemeClr val="phClr">
                <a:tint val="71000"/>
                <a:satMod val="112000"/>
              </a:schemeClr>
            </a:gs>
            <a:gs pos="53000">
              <a:schemeClr val="phClr">
                <a:tint val="71000"/>
                <a:satMod val="112000"/>
              </a:schemeClr>
            </a:gs>
            <a:gs pos="68000">
              <a:schemeClr val="phClr">
                <a:tint val="86000"/>
              </a:schemeClr>
            </a:gs>
            <a:gs pos="100000">
              <a:schemeClr val="phClr">
                <a:shade val="60000"/>
              </a:schemeClr>
            </a:gs>
          </a:gsLst>
          <a:lin ang="8350000" scaled="1"/>
        </a:gradFill>
      </a:fillStyleLst>
      <a:lnStyleLst>
        <a:ln w="9525" cap="flat" cmpd="sng" algn="ctr">
          <a:solidFill>
            <a:schemeClr val="phClr">
              <a:shade val="48000"/>
              <a:satMod val="110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130000" dist="101600" dir="2700000" algn="tl" rotWithShape="0">
              <a:srgbClr val="000000">
                <a:alpha val="35000"/>
              </a:srgbClr>
            </a:outerShdw>
          </a:effectLst>
        </a:effectStyle>
        <a:effectStyle>
          <a:effectLst>
            <a:outerShdw blurRad="190500" dist="228600" dir="2700000" sy="90000" rotWithShape="0">
              <a:srgbClr val="000000">
                <a:alpha val="25500"/>
              </a:srgbClr>
            </a:outerShdw>
          </a:effectLst>
        </a:effectStyle>
        <a:effectStyle>
          <a:effectLst>
            <a:outerShdw blurRad="190500" dist="228600" dir="2700000" sy="90000" rotWithShape="0">
              <a:srgbClr val="000000">
                <a:alpha val="25500"/>
              </a:srgbClr>
            </a:outerShdw>
          </a:effectLst>
          <a:scene3d>
            <a:camera prst="orthographicFront" fov="0">
              <a:rot lat="0" lon="0" rev="0"/>
            </a:camera>
            <a:lightRig rig="soft" dir="tl">
              <a:rot lat="0" lon="0" rev="20100000"/>
            </a:lightRig>
          </a:scene3d>
          <a:sp3d>
            <a:bevelT w="50800" h="50800"/>
          </a:sp3d>
        </a:effectStyle>
      </a:effectStyleLst>
      <a:bgFillStyleLst>
        <a:solidFill>
          <a:schemeClr val="phClr"/>
        </a:solidFill>
        <a:gradFill rotWithShape="1">
          <a:gsLst>
            <a:gs pos="0">
              <a:schemeClr val="phClr">
                <a:tint val="50000"/>
                <a:satMod val="180000"/>
              </a:schemeClr>
            </a:gs>
            <a:gs pos="100000">
              <a:schemeClr val="phClr">
                <a:shade val="45000"/>
                <a:satMod val="120000"/>
              </a:schemeClr>
            </a:gs>
          </a:gsLst>
          <a:path path="circle">
            <a:fillToRect r="100000" b="100000"/>
          </a:path>
        </a:gradFill>
        <a:blipFill>
          <a:blip xmlns:r="http://schemas.openxmlformats.org/officeDocument/2006/relationships" r:embed="rId1">
            <a:duotone>
              <a:schemeClr val="phClr">
                <a:shade val="3000"/>
                <a:satMod val="110000"/>
              </a:schemeClr>
              <a:schemeClr val="phClr">
                <a:tint val="60000"/>
                <a:satMod val="425000"/>
              </a:schemeClr>
            </a:duotone>
          </a:blip>
          <a:stretch>
            <a:fillRect/>
          </a:stretch>
        </a:blip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Apex</Template>
  <TotalTime>19</TotalTime>
  <Words>475</Words>
  <Application>Microsoft Office PowerPoint</Application>
  <PresentationFormat>On-screen Show (4:3)</PresentationFormat>
  <Paragraphs>61</Paragraphs>
  <Slides>16</Slides>
  <Notes>0</Notes>
  <HiddenSlides>0</HiddenSlides>
  <MMClips>0</MMClips>
  <ScaleCrop>false</ScaleCrop>
  <HeadingPairs>
    <vt:vector size="4" baseType="variant">
      <vt:variant>
        <vt:lpstr>Theme</vt:lpstr>
      </vt:variant>
      <vt:variant>
        <vt:i4>1</vt:i4>
      </vt:variant>
      <vt:variant>
        <vt:lpstr>Slide Titles</vt:lpstr>
      </vt:variant>
      <vt:variant>
        <vt:i4>16</vt:i4>
      </vt:variant>
    </vt:vector>
  </HeadingPairs>
  <TitlesOfParts>
    <vt:vector size="17" baseType="lpstr">
      <vt:lpstr>Apex</vt:lpstr>
      <vt:lpstr>E-Commerce Website </vt:lpstr>
      <vt:lpstr> INTRODUCTION </vt:lpstr>
      <vt:lpstr> OBJECTIVES </vt:lpstr>
      <vt:lpstr> Software &amp; Hardware Requirements </vt:lpstr>
      <vt:lpstr> Feasibility Study </vt:lpstr>
      <vt:lpstr> System Analysis </vt:lpstr>
      <vt:lpstr>Proposed System &amp; Advantages</vt:lpstr>
      <vt:lpstr>Advantages</vt:lpstr>
      <vt:lpstr>Design</vt:lpstr>
      <vt:lpstr>Future Enhancement</vt:lpstr>
      <vt:lpstr>ER Diagram</vt:lpstr>
      <vt:lpstr> HOME PAGE </vt:lpstr>
      <vt:lpstr> SHOP PAGE </vt:lpstr>
      <vt:lpstr> SIGN UP PAGE </vt:lpstr>
      <vt:lpstr>Bibliography</vt:lpstr>
      <vt:lpstr>Thank you</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E-Commerce Website </dc:title>
  <dc:creator>SHREE</dc:creator>
  <cp:lastModifiedBy>SHREE</cp:lastModifiedBy>
  <cp:revision>7</cp:revision>
  <dcterms:created xsi:type="dcterms:W3CDTF">2025-04-29T03:48:05Z</dcterms:created>
  <dcterms:modified xsi:type="dcterms:W3CDTF">2025-04-29T04:07:29Z</dcterms:modified>
</cp:coreProperties>
</file>